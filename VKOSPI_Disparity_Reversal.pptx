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5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9F8B"/>
    <a:srgbClr val="C39D78"/>
    <a:srgbClr val="C00000"/>
    <a:srgbClr val="DDC7B2"/>
    <a:srgbClr val="CFB193"/>
    <a:srgbClr val="C04F15"/>
    <a:srgbClr val="1B5E5C"/>
    <a:srgbClr val="1B9966"/>
    <a:srgbClr val="33996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이격도 + VKOSPI 필터</c:v>
                </c:pt>
              </c:strCache>
            </c:strRef>
          </c:tx>
          <c:spPr>
            <a:ln w="22225">
              <a:solidFill>
                <a:srgbClr val="1B5E5C"/>
              </a:solidFill>
            </a:ln>
          </c:spPr>
          <c:marker>
            <c:symbol val="none"/>
          </c:marker>
          <c:cat>
            <c:strRef>
              <c:f>Sheet1!$A$2:$A$65</c:f>
              <c:strCache>
                <c:ptCount val="64"/>
                <c:pt idx="0">
                  <c:v>21.03</c:v>
                </c:pt>
                <c:pt idx="1">
                  <c:v>21.04</c:v>
                </c:pt>
                <c:pt idx="2">
                  <c:v>21.05</c:v>
                </c:pt>
                <c:pt idx="3">
                  <c:v>21.06</c:v>
                </c:pt>
                <c:pt idx="4">
                  <c:v>21.07</c:v>
                </c:pt>
                <c:pt idx="5">
                  <c:v>21.08</c:v>
                </c:pt>
                <c:pt idx="6">
                  <c:v>21.09</c:v>
                </c:pt>
                <c:pt idx="7">
                  <c:v>21.10</c:v>
                </c:pt>
                <c:pt idx="8">
                  <c:v>21.11</c:v>
                </c:pt>
                <c:pt idx="9">
                  <c:v>21.12</c:v>
                </c:pt>
                <c:pt idx="10">
                  <c:v>22.01</c:v>
                </c:pt>
                <c:pt idx="11">
                  <c:v>22.02</c:v>
                </c:pt>
                <c:pt idx="12">
                  <c:v>22.03</c:v>
                </c:pt>
                <c:pt idx="13">
                  <c:v>22.04</c:v>
                </c:pt>
                <c:pt idx="14">
                  <c:v>22.05</c:v>
                </c:pt>
                <c:pt idx="15">
                  <c:v>22.06</c:v>
                </c:pt>
                <c:pt idx="16">
                  <c:v>22.07</c:v>
                </c:pt>
                <c:pt idx="17">
                  <c:v>22.08</c:v>
                </c:pt>
                <c:pt idx="18">
                  <c:v>22.09</c:v>
                </c:pt>
                <c:pt idx="19">
                  <c:v>22.10</c:v>
                </c:pt>
                <c:pt idx="20">
                  <c:v>22.11</c:v>
                </c:pt>
                <c:pt idx="21">
                  <c:v>22.12</c:v>
                </c:pt>
                <c:pt idx="22">
                  <c:v>23.01</c:v>
                </c:pt>
                <c:pt idx="23">
                  <c:v>23.02</c:v>
                </c:pt>
                <c:pt idx="24">
                  <c:v>23.03</c:v>
                </c:pt>
                <c:pt idx="25">
                  <c:v>23.04</c:v>
                </c:pt>
                <c:pt idx="26">
                  <c:v>23.05</c:v>
                </c:pt>
                <c:pt idx="27">
                  <c:v>23.06</c:v>
                </c:pt>
                <c:pt idx="28">
                  <c:v>23.07</c:v>
                </c:pt>
                <c:pt idx="29">
                  <c:v>23.08</c:v>
                </c:pt>
                <c:pt idx="30">
                  <c:v>23.09</c:v>
                </c:pt>
                <c:pt idx="31">
                  <c:v>23.10</c:v>
                </c:pt>
                <c:pt idx="32">
                  <c:v>23.11</c:v>
                </c:pt>
                <c:pt idx="33">
                  <c:v>23.12</c:v>
                </c:pt>
                <c:pt idx="34">
                  <c:v>24.01</c:v>
                </c:pt>
                <c:pt idx="35">
                  <c:v>24.02</c:v>
                </c:pt>
                <c:pt idx="36">
                  <c:v>24.03</c:v>
                </c:pt>
                <c:pt idx="37">
                  <c:v>24.04</c:v>
                </c:pt>
                <c:pt idx="38">
                  <c:v>24.05</c:v>
                </c:pt>
                <c:pt idx="39">
                  <c:v>24.06</c:v>
                </c:pt>
                <c:pt idx="40">
                  <c:v>24.07</c:v>
                </c:pt>
                <c:pt idx="41">
                  <c:v>24.08</c:v>
                </c:pt>
                <c:pt idx="42">
                  <c:v>24.09</c:v>
                </c:pt>
                <c:pt idx="43">
                  <c:v>24.10</c:v>
                </c:pt>
                <c:pt idx="44">
                  <c:v>24.11</c:v>
                </c:pt>
                <c:pt idx="45">
                  <c:v>24.12</c:v>
                </c:pt>
                <c:pt idx="46">
                  <c:v>25.01</c:v>
                </c:pt>
                <c:pt idx="47">
                  <c:v>25.02</c:v>
                </c:pt>
                <c:pt idx="48">
                  <c:v>25.03</c:v>
                </c:pt>
                <c:pt idx="49">
                  <c:v>25.04</c:v>
                </c:pt>
                <c:pt idx="50">
                  <c:v>25.05</c:v>
                </c:pt>
                <c:pt idx="51">
                  <c:v>25.06</c:v>
                </c:pt>
                <c:pt idx="52">
                  <c:v>25.07</c:v>
                </c:pt>
                <c:pt idx="53">
                  <c:v>25.08</c:v>
                </c:pt>
                <c:pt idx="54">
                  <c:v>25.09</c:v>
                </c:pt>
                <c:pt idx="55">
                  <c:v>25.10</c:v>
                </c:pt>
                <c:pt idx="56">
                  <c:v>25.11</c:v>
                </c:pt>
                <c:pt idx="57">
                  <c:v>25.12</c:v>
                </c:pt>
                <c:pt idx="58">
                  <c:v>26.01</c:v>
                </c:pt>
                <c:pt idx="59">
                  <c:v>26.02</c:v>
                </c:pt>
                <c:pt idx="60">
                  <c:v>26.03</c:v>
                </c:pt>
                <c:pt idx="61">
                  <c:v>26.04</c:v>
                </c:pt>
                <c:pt idx="62">
                  <c:v>26.05</c:v>
                </c:pt>
                <c:pt idx="63">
                  <c:v>26.06</c:v>
                </c:pt>
              </c:strCache>
            </c:strRef>
          </c:cat>
          <c:val>
            <c:numRef>
              <c:f>Sheet1!$B$2:$B$65</c:f>
              <c:numCache>
                <c:formatCode>General</c:formatCode>
                <c:ptCount val="64"/>
                <c:pt idx="0">
                  <c:v>1.0</c:v>
                </c:pt>
                <c:pt idx="1">
                  <c:v>1.0251</c:v>
                </c:pt>
                <c:pt idx="2">
                  <c:v>1.052</c:v>
                </c:pt>
                <c:pt idx="3">
                  <c:v>1.1221</c:v>
                </c:pt>
                <c:pt idx="4">
                  <c:v>1.1221</c:v>
                </c:pt>
                <c:pt idx="5">
                  <c:v>1.1221</c:v>
                </c:pt>
                <c:pt idx="6">
                  <c:v>1.1221</c:v>
                </c:pt>
                <c:pt idx="7">
                  <c:v>1.1221</c:v>
                </c:pt>
                <c:pt idx="8">
                  <c:v>1.1221</c:v>
                </c:pt>
                <c:pt idx="9">
                  <c:v>1.0229</c:v>
                </c:pt>
                <c:pt idx="10">
                  <c:v>1.1283</c:v>
                </c:pt>
                <c:pt idx="11">
                  <c:v>1.1283</c:v>
                </c:pt>
                <c:pt idx="12">
                  <c:v>1.2239</c:v>
                </c:pt>
                <c:pt idx="13">
                  <c:v>1.3019</c:v>
                </c:pt>
                <c:pt idx="14">
                  <c:v>1.3019</c:v>
                </c:pt>
                <c:pt idx="15">
                  <c:v>1.3113</c:v>
                </c:pt>
                <c:pt idx="16">
                  <c:v>1.3113</c:v>
                </c:pt>
                <c:pt idx="17">
                  <c:v>1.3864</c:v>
                </c:pt>
                <c:pt idx="18">
                  <c:v>1.3864</c:v>
                </c:pt>
                <c:pt idx="19">
                  <c:v>1.3864</c:v>
                </c:pt>
                <c:pt idx="20">
                  <c:v>1.4393</c:v>
                </c:pt>
                <c:pt idx="21">
                  <c:v>1.7708</c:v>
                </c:pt>
                <c:pt idx="22">
                  <c:v>1.7708</c:v>
                </c:pt>
                <c:pt idx="23">
                  <c:v>1.9728</c:v>
                </c:pt>
                <c:pt idx="24">
                  <c:v>1.9728</c:v>
                </c:pt>
                <c:pt idx="25">
                  <c:v>1.9496</c:v>
                </c:pt>
                <c:pt idx="26">
                  <c:v>1.9496</c:v>
                </c:pt>
                <c:pt idx="27">
                  <c:v>1.9496</c:v>
                </c:pt>
                <c:pt idx="28">
                  <c:v>1.9496</c:v>
                </c:pt>
                <c:pt idx="29">
                  <c:v>1.9496</c:v>
                </c:pt>
                <c:pt idx="30">
                  <c:v>1.9496</c:v>
                </c:pt>
                <c:pt idx="31">
                  <c:v>1.9496</c:v>
                </c:pt>
                <c:pt idx="32">
                  <c:v>1.9496</c:v>
                </c:pt>
                <c:pt idx="33">
                  <c:v>2.3454</c:v>
                </c:pt>
                <c:pt idx="34">
                  <c:v>2.3454</c:v>
                </c:pt>
                <c:pt idx="35">
                  <c:v>2.3454</c:v>
                </c:pt>
                <c:pt idx="36">
                  <c:v>2.3454</c:v>
                </c:pt>
                <c:pt idx="37">
                  <c:v>2.3454</c:v>
                </c:pt>
                <c:pt idx="38">
                  <c:v>2.3454</c:v>
                </c:pt>
                <c:pt idx="39">
                  <c:v>2.3489</c:v>
                </c:pt>
                <c:pt idx="40">
                  <c:v>2.3489</c:v>
                </c:pt>
                <c:pt idx="41">
                  <c:v>2.3489</c:v>
                </c:pt>
                <c:pt idx="42">
                  <c:v>2.3489</c:v>
                </c:pt>
                <c:pt idx="43">
                  <c:v>2.3675</c:v>
                </c:pt>
                <c:pt idx="44">
                  <c:v>2.3261</c:v>
                </c:pt>
                <c:pt idx="45">
                  <c:v>2.2203</c:v>
                </c:pt>
                <c:pt idx="46">
                  <c:v>2.2758</c:v>
                </c:pt>
                <c:pt idx="47">
                  <c:v>2.2911</c:v>
                </c:pt>
                <c:pt idx="48">
                  <c:v>2.5339</c:v>
                </c:pt>
                <c:pt idx="49">
                  <c:v>2.4163</c:v>
                </c:pt>
                <c:pt idx="50">
                  <c:v>2.4554</c:v>
                </c:pt>
                <c:pt idx="51">
                  <c:v>2.6443</c:v>
                </c:pt>
                <c:pt idx="52">
                  <c:v>2.9638</c:v>
                </c:pt>
                <c:pt idx="53">
                  <c:v>3.0982</c:v>
                </c:pt>
                <c:pt idx="54">
                  <c:v>3.0047</c:v>
                </c:pt>
                <c:pt idx="55">
                  <c:v>3.0612</c:v>
                </c:pt>
                <c:pt idx="56">
                  <c:v>3.5699</c:v>
                </c:pt>
                <c:pt idx="57">
                  <c:v>3.7796</c:v>
                </c:pt>
                <c:pt idx="58">
                  <c:v>3.9908</c:v>
                </c:pt>
                <c:pt idx="59">
                  <c:v>4.4686</c:v>
                </c:pt>
                <c:pt idx="60">
                  <c:v>4.9998</c:v>
                </c:pt>
                <c:pt idx="61">
                  <c:v>4.8792</c:v>
                </c:pt>
                <c:pt idx="62">
                  <c:v>6.3958</c:v>
                </c:pt>
                <c:pt idx="63">
                  <c:v>6.0091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이격도, 필터 없음</c:v>
                </c:pt>
              </c:strCache>
            </c:strRef>
          </c:tx>
          <c:spPr>
            <a:ln w="22225">
              <a:solidFill>
                <a:srgbClr val="4C9F8B"/>
              </a:solidFill>
            </a:ln>
          </c:spPr>
          <c:marker>
            <c:symbol val="none"/>
          </c:marker>
          <c:cat>
            <c:strRef>
              <c:f>Sheet1!$A$2:$A$65</c:f>
              <c:strCache>
                <c:ptCount val="64"/>
                <c:pt idx="0">
                  <c:v>21.03</c:v>
                </c:pt>
                <c:pt idx="1">
                  <c:v>21.04</c:v>
                </c:pt>
                <c:pt idx="2">
                  <c:v>21.05</c:v>
                </c:pt>
                <c:pt idx="3">
                  <c:v>21.06</c:v>
                </c:pt>
                <c:pt idx="4">
                  <c:v>21.07</c:v>
                </c:pt>
                <c:pt idx="5">
                  <c:v>21.08</c:v>
                </c:pt>
                <c:pt idx="6">
                  <c:v>21.09</c:v>
                </c:pt>
                <c:pt idx="7">
                  <c:v>21.10</c:v>
                </c:pt>
                <c:pt idx="8">
                  <c:v>21.11</c:v>
                </c:pt>
                <c:pt idx="9">
                  <c:v>21.12</c:v>
                </c:pt>
                <c:pt idx="10">
                  <c:v>22.01</c:v>
                </c:pt>
                <c:pt idx="11">
                  <c:v>22.02</c:v>
                </c:pt>
                <c:pt idx="12">
                  <c:v>22.03</c:v>
                </c:pt>
                <c:pt idx="13">
                  <c:v>22.04</c:v>
                </c:pt>
                <c:pt idx="14">
                  <c:v>22.05</c:v>
                </c:pt>
                <c:pt idx="15">
                  <c:v>22.06</c:v>
                </c:pt>
                <c:pt idx="16">
                  <c:v>22.07</c:v>
                </c:pt>
                <c:pt idx="17">
                  <c:v>22.08</c:v>
                </c:pt>
                <c:pt idx="18">
                  <c:v>22.09</c:v>
                </c:pt>
                <c:pt idx="19">
                  <c:v>22.10</c:v>
                </c:pt>
                <c:pt idx="20">
                  <c:v>22.11</c:v>
                </c:pt>
                <c:pt idx="21">
                  <c:v>22.12</c:v>
                </c:pt>
                <c:pt idx="22">
                  <c:v>23.01</c:v>
                </c:pt>
                <c:pt idx="23">
                  <c:v>23.02</c:v>
                </c:pt>
                <c:pt idx="24">
                  <c:v>23.03</c:v>
                </c:pt>
                <c:pt idx="25">
                  <c:v>23.04</c:v>
                </c:pt>
                <c:pt idx="26">
                  <c:v>23.05</c:v>
                </c:pt>
                <c:pt idx="27">
                  <c:v>23.06</c:v>
                </c:pt>
                <c:pt idx="28">
                  <c:v>23.07</c:v>
                </c:pt>
                <c:pt idx="29">
                  <c:v>23.08</c:v>
                </c:pt>
                <c:pt idx="30">
                  <c:v>23.09</c:v>
                </c:pt>
                <c:pt idx="31">
                  <c:v>23.10</c:v>
                </c:pt>
                <c:pt idx="32">
                  <c:v>23.11</c:v>
                </c:pt>
                <c:pt idx="33">
                  <c:v>23.12</c:v>
                </c:pt>
                <c:pt idx="34">
                  <c:v>24.01</c:v>
                </c:pt>
                <c:pt idx="35">
                  <c:v>24.02</c:v>
                </c:pt>
                <c:pt idx="36">
                  <c:v>24.03</c:v>
                </c:pt>
                <c:pt idx="37">
                  <c:v>24.04</c:v>
                </c:pt>
                <c:pt idx="38">
                  <c:v>24.05</c:v>
                </c:pt>
                <c:pt idx="39">
                  <c:v>24.06</c:v>
                </c:pt>
                <c:pt idx="40">
                  <c:v>24.07</c:v>
                </c:pt>
                <c:pt idx="41">
                  <c:v>24.08</c:v>
                </c:pt>
                <c:pt idx="42">
                  <c:v>24.09</c:v>
                </c:pt>
                <c:pt idx="43">
                  <c:v>24.10</c:v>
                </c:pt>
                <c:pt idx="44">
                  <c:v>24.11</c:v>
                </c:pt>
                <c:pt idx="45">
                  <c:v>24.12</c:v>
                </c:pt>
                <c:pt idx="46">
                  <c:v>25.01</c:v>
                </c:pt>
                <c:pt idx="47">
                  <c:v>25.02</c:v>
                </c:pt>
                <c:pt idx="48">
                  <c:v>25.03</c:v>
                </c:pt>
                <c:pt idx="49">
                  <c:v>25.04</c:v>
                </c:pt>
                <c:pt idx="50">
                  <c:v>25.05</c:v>
                </c:pt>
                <c:pt idx="51">
                  <c:v>25.06</c:v>
                </c:pt>
                <c:pt idx="52">
                  <c:v>25.07</c:v>
                </c:pt>
                <c:pt idx="53">
                  <c:v>25.08</c:v>
                </c:pt>
                <c:pt idx="54">
                  <c:v>25.09</c:v>
                </c:pt>
                <c:pt idx="55">
                  <c:v>25.10</c:v>
                </c:pt>
                <c:pt idx="56">
                  <c:v>25.11</c:v>
                </c:pt>
                <c:pt idx="57">
                  <c:v>25.12</c:v>
                </c:pt>
                <c:pt idx="58">
                  <c:v>26.01</c:v>
                </c:pt>
                <c:pt idx="59">
                  <c:v>26.02</c:v>
                </c:pt>
                <c:pt idx="60">
                  <c:v>26.03</c:v>
                </c:pt>
                <c:pt idx="61">
                  <c:v>26.04</c:v>
                </c:pt>
                <c:pt idx="62">
                  <c:v>26.05</c:v>
                </c:pt>
                <c:pt idx="63">
                  <c:v>26.06</c:v>
                </c:pt>
              </c:strCache>
            </c:strRef>
          </c:cat>
          <c:val>
            <c:numRef>
              <c:f>Sheet1!$C$2:$C$65</c:f>
              <c:numCache>
                <c:formatCode>General</c:formatCode>
                <c:ptCount val="64"/>
                <c:pt idx="0">
                  <c:v>1.0</c:v>
                </c:pt>
                <c:pt idx="1">
                  <c:v>1.0251</c:v>
                </c:pt>
                <c:pt idx="2">
                  <c:v>1.052</c:v>
                </c:pt>
                <c:pt idx="3">
                  <c:v>1.1221</c:v>
                </c:pt>
                <c:pt idx="4">
                  <c:v>1.1906</c:v>
                </c:pt>
                <c:pt idx="5">
                  <c:v>1.152</c:v>
                </c:pt>
                <c:pt idx="6">
                  <c:v>1.1535</c:v>
                </c:pt>
                <c:pt idx="7">
                  <c:v>1.0883</c:v>
                </c:pt>
                <c:pt idx="8">
                  <c:v>1.0809</c:v>
                </c:pt>
                <c:pt idx="9">
                  <c:v>0.9854</c:v>
                </c:pt>
                <c:pt idx="10">
                  <c:v>1.0869</c:v>
                </c:pt>
                <c:pt idx="11">
                  <c:v>0.9873</c:v>
                </c:pt>
                <c:pt idx="12">
                  <c:v>1.0709</c:v>
                </c:pt>
                <c:pt idx="13">
                  <c:v>1.1392</c:v>
                </c:pt>
                <c:pt idx="14">
                  <c:v>1.1364</c:v>
                </c:pt>
                <c:pt idx="15">
                  <c:v>1.1446</c:v>
                </c:pt>
                <c:pt idx="16">
                  <c:v>1.1085</c:v>
                </c:pt>
                <c:pt idx="17">
                  <c:v>1.172</c:v>
                </c:pt>
                <c:pt idx="18">
                  <c:v>1.1636</c:v>
                </c:pt>
                <c:pt idx="19">
                  <c:v>0.9595</c:v>
                </c:pt>
                <c:pt idx="20">
                  <c:v>0.996</c:v>
                </c:pt>
                <c:pt idx="21">
                  <c:v>1.2255</c:v>
                </c:pt>
                <c:pt idx="22">
                  <c:v>1.1223</c:v>
                </c:pt>
                <c:pt idx="23">
                  <c:v>1.2503</c:v>
                </c:pt>
                <c:pt idx="24">
                  <c:v>1.2628</c:v>
                </c:pt>
                <c:pt idx="25">
                  <c:v>1.2479</c:v>
                </c:pt>
                <c:pt idx="26">
                  <c:v>1.2904</c:v>
                </c:pt>
                <c:pt idx="27">
                  <c:v>1.2727</c:v>
                </c:pt>
                <c:pt idx="28">
                  <c:v>1.2379</c:v>
                </c:pt>
                <c:pt idx="29">
                  <c:v>1.281</c:v>
                </c:pt>
                <c:pt idx="30">
                  <c:v>1.2522</c:v>
                </c:pt>
                <c:pt idx="31">
                  <c:v>1.1772</c:v>
                </c:pt>
                <c:pt idx="32">
                  <c:v>1.0647</c:v>
                </c:pt>
                <c:pt idx="33">
                  <c:v>1.2808</c:v>
                </c:pt>
                <c:pt idx="34">
                  <c:v>1.3562</c:v>
                </c:pt>
                <c:pt idx="35">
                  <c:v>1.357</c:v>
                </c:pt>
                <c:pt idx="36">
                  <c:v>1.4871</c:v>
                </c:pt>
                <c:pt idx="37">
                  <c:v>1.4773</c:v>
                </c:pt>
                <c:pt idx="38">
                  <c:v>1.4668</c:v>
                </c:pt>
                <c:pt idx="39">
                  <c:v>1.469</c:v>
                </c:pt>
                <c:pt idx="40">
                  <c:v>1.4401</c:v>
                </c:pt>
                <c:pt idx="41">
                  <c:v>1.3512</c:v>
                </c:pt>
                <c:pt idx="42">
                  <c:v>1.3186</c:v>
                </c:pt>
                <c:pt idx="43">
                  <c:v>1.329</c:v>
                </c:pt>
                <c:pt idx="44">
                  <c:v>1.3058</c:v>
                </c:pt>
                <c:pt idx="45">
                  <c:v>1.2464</c:v>
                </c:pt>
                <c:pt idx="46">
                  <c:v>1.2776</c:v>
                </c:pt>
                <c:pt idx="47">
                  <c:v>1.2862</c:v>
                </c:pt>
                <c:pt idx="48">
                  <c:v>1.4224</c:v>
                </c:pt>
                <c:pt idx="49">
                  <c:v>1.3565</c:v>
                </c:pt>
                <c:pt idx="50">
                  <c:v>1.3784</c:v>
                </c:pt>
                <c:pt idx="51">
                  <c:v>1.4844</c:v>
                </c:pt>
                <c:pt idx="52">
                  <c:v>1.6638</c:v>
                </c:pt>
                <c:pt idx="53">
                  <c:v>1.7392</c:v>
                </c:pt>
                <c:pt idx="54">
                  <c:v>1.6867</c:v>
                </c:pt>
                <c:pt idx="55">
                  <c:v>1.7185</c:v>
                </c:pt>
                <c:pt idx="56">
                  <c:v>2.004</c:v>
                </c:pt>
                <c:pt idx="57">
                  <c:v>2.1217</c:v>
                </c:pt>
                <c:pt idx="58">
                  <c:v>2.2403</c:v>
                </c:pt>
                <c:pt idx="59">
                  <c:v>2.5085</c:v>
                </c:pt>
                <c:pt idx="60">
                  <c:v>2.8067</c:v>
                </c:pt>
                <c:pt idx="61">
                  <c:v>2.739</c:v>
                </c:pt>
                <c:pt idx="62">
                  <c:v>3.5904</c:v>
                </c:pt>
                <c:pt idx="63">
                  <c:v>3.3733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유니버스 동일가중</c:v>
                </c:pt>
              </c:strCache>
            </c:strRef>
          </c:tx>
          <c:spPr>
            <a:ln w="22225">
              <a:solidFill>
                <a:srgbClr val="595959"/>
              </a:solidFill>
            </a:ln>
          </c:spPr>
          <c:marker>
            <c:symbol val="none"/>
          </c:marker>
          <c:cat>
            <c:strRef>
              <c:f>Sheet1!$A$2:$A$65</c:f>
              <c:strCache>
                <c:ptCount val="64"/>
                <c:pt idx="0">
                  <c:v>21.03</c:v>
                </c:pt>
                <c:pt idx="1">
                  <c:v>21.04</c:v>
                </c:pt>
                <c:pt idx="2">
                  <c:v>21.05</c:v>
                </c:pt>
                <c:pt idx="3">
                  <c:v>21.06</c:v>
                </c:pt>
                <c:pt idx="4">
                  <c:v>21.07</c:v>
                </c:pt>
                <c:pt idx="5">
                  <c:v>21.08</c:v>
                </c:pt>
                <c:pt idx="6">
                  <c:v>21.09</c:v>
                </c:pt>
                <c:pt idx="7">
                  <c:v>21.10</c:v>
                </c:pt>
                <c:pt idx="8">
                  <c:v>21.11</c:v>
                </c:pt>
                <c:pt idx="9">
                  <c:v>21.12</c:v>
                </c:pt>
                <c:pt idx="10">
                  <c:v>22.01</c:v>
                </c:pt>
                <c:pt idx="11">
                  <c:v>22.02</c:v>
                </c:pt>
                <c:pt idx="12">
                  <c:v>22.03</c:v>
                </c:pt>
                <c:pt idx="13">
                  <c:v>22.04</c:v>
                </c:pt>
                <c:pt idx="14">
                  <c:v>22.05</c:v>
                </c:pt>
                <c:pt idx="15">
                  <c:v>22.06</c:v>
                </c:pt>
                <c:pt idx="16">
                  <c:v>22.07</c:v>
                </c:pt>
                <c:pt idx="17">
                  <c:v>22.08</c:v>
                </c:pt>
                <c:pt idx="18">
                  <c:v>22.09</c:v>
                </c:pt>
                <c:pt idx="19">
                  <c:v>22.10</c:v>
                </c:pt>
                <c:pt idx="20">
                  <c:v>22.11</c:v>
                </c:pt>
                <c:pt idx="21">
                  <c:v>22.12</c:v>
                </c:pt>
                <c:pt idx="22">
                  <c:v>23.01</c:v>
                </c:pt>
                <c:pt idx="23">
                  <c:v>23.02</c:v>
                </c:pt>
                <c:pt idx="24">
                  <c:v>23.03</c:v>
                </c:pt>
                <c:pt idx="25">
                  <c:v>23.04</c:v>
                </c:pt>
                <c:pt idx="26">
                  <c:v>23.05</c:v>
                </c:pt>
                <c:pt idx="27">
                  <c:v>23.06</c:v>
                </c:pt>
                <c:pt idx="28">
                  <c:v>23.07</c:v>
                </c:pt>
                <c:pt idx="29">
                  <c:v>23.08</c:v>
                </c:pt>
                <c:pt idx="30">
                  <c:v>23.09</c:v>
                </c:pt>
                <c:pt idx="31">
                  <c:v>23.10</c:v>
                </c:pt>
                <c:pt idx="32">
                  <c:v>23.11</c:v>
                </c:pt>
                <c:pt idx="33">
                  <c:v>23.12</c:v>
                </c:pt>
                <c:pt idx="34">
                  <c:v>24.01</c:v>
                </c:pt>
                <c:pt idx="35">
                  <c:v>24.02</c:v>
                </c:pt>
                <c:pt idx="36">
                  <c:v>24.03</c:v>
                </c:pt>
                <c:pt idx="37">
                  <c:v>24.04</c:v>
                </c:pt>
                <c:pt idx="38">
                  <c:v>24.05</c:v>
                </c:pt>
                <c:pt idx="39">
                  <c:v>24.06</c:v>
                </c:pt>
                <c:pt idx="40">
                  <c:v>24.07</c:v>
                </c:pt>
                <c:pt idx="41">
                  <c:v>24.08</c:v>
                </c:pt>
                <c:pt idx="42">
                  <c:v>24.09</c:v>
                </c:pt>
                <c:pt idx="43">
                  <c:v>24.10</c:v>
                </c:pt>
                <c:pt idx="44">
                  <c:v>24.11</c:v>
                </c:pt>
                <c:pt idx="45">
                  <c:v>24.12</c:v>
                </c:pt>
                <c:pt idx="46">
                  <c:v>25.01</c:v>
                </c:pt>
                <c:pt idx="47">
                  <c:v>25.02</c:v>
                </c:pt>
                <c:pt idx="48">
                  <c:v>25.03</c:v>
                </c:pt>
                <c:pt idx="49">
                  <c:v>25.04</c:v>
                </c:pt>
                <c:pt idx="50">
                  <c:v>25.05</c:v>
                </c:pt>
                <c:pt idx="51">
                  <c:v>25.06</c:v>
                </c:pt>
                <c:pt idx="52">
                  <c:v>25.07</c:v>
                </c:pt>
                <c:pt idx="53">
                  <c:v>25.08</c:v>
                </c:pt>
                <c:pt idx="54">
                  <c:v>25.09</c:v>
                </c:pt>
                <c:pt idx="55">
                  <c:v>25.10</c:v>
                </c:pt>
                <c:pt idx="56">
                  <c:v>25.11</c:v>
                </c:pt>
                <c:pt idx="57">
                  <c:v>25.12</c:v>
                </c:pt>
                <c:pt idx="58">
                  <c:v>26.01</c:v>
                </c:pt>
                <c:pt idx="59">
                  <c:v>26.02</c:v>
                </c:pt>
                <c:pt idx="60">
                  <c:v>26.03</c:v>
                </c:pt>
                <c:pt idx="61">
                  <c:v>26.04</c:v>
                </c:pt>
                <c:pt idx="62">
                  <c:v>26.05</c:v>
                </c:pt>
                <c:pt idx="63">
                  <c:v>26.06</c:v>
                </c:pt>
              </c:strCache>
            </c:strRef>
          </c:cat>
          <c:val>
            <c:numRef>
              <c:f>Sheet1!$D$2:$D$65</c:f>
              <c:numCache>
                <c:formatCode>General</c:formatCode>
                <c:ptCount val="64"/>
                <c:pt idx="0">
                  <c:v>1.0</c:v>
                </c:pt>
                <c:pt idx="1">
                  <c:v>1.0525</c:v>
                </c:pt>
                <c:pt idx="2">
                  <c:v>1.1074</c:v>
                </c:pt>
                <c:pt idx="3">
                  <c:v>1.1672</c:v>
                </c:pt>
                <c:pt idx="4">
                  <c:v>1.1932</c:v>
                </c:pt>
                <c:pt idx="5">
                  <c:v>1.1789</c:v>
                </c:pt>
                <c:pt idx="6">
                  <c:v>1.1812</c:v>
                </c:pt>
                <c:pt idx="7">
                  <c:v>1.1631</c:v>
                </c:pt>
                <c:pt idx="8">
                  <c:v>1.1478</c:v>
                </c:pt>
                <c:pt idx="9">
                  <c:v>1.0521</c:v>
                </c:pt>
                <c:pt idx="10">
                  <c:v>1.1223</c:v>
                </c:pt>
                <c:pt idx="11">
                  <c:v>1.032</c:v>
                </c:pt>
                <c:pt idx="12">
                  <c:v>1.0683</c:v>
                </c:pt>
                <c:pt idx="13">
                  <c:v>1.1032</c:v>
                </c:pt>
                <c:pt idx="14">
                  <c:v>1.0938</c:v>
                </c:pt>
                <c:pt idx="15">
                  <c:v>1.1011</c:v>
                </c:pt>
                <c:pt idx="16">
                  <c:v>0.9967</c:v>
                </c:pt>
                <c:pt idx="17">
                  <c:v>1.0143</c:v>
                </c:pt>
                <c:pt idx="18">
                  <c:v>1.036</c:v>
                </c:pt>
                <c:pt idx="19">
                  <c:v>0.9169</c:v>
                </c:pt>
                <c:pt idx="20">
                  <c:v>0.9369</c:v>
                </c:pt>
                <c:pt idx="21">
                  <c:v>1.0418</c:v>
                </c:pt>
                <c:pt idx="22">
                  <c:v>0.9844</c:v>
                </c:pt>
                <c:pt idx="23">
                  <c:v>1.0388</c:v>
                </c:pt>
                <c:pt idx="24">
                  <c:v>1.0382</c:v>
                </c:pt>
                <c:pt idx="25">
                  <c:v>1.0518</c:v>
                </c:pt>
                <c:pt idx="26">
                  <c:v>1.0635</c:v>
                </c:pt>
                <c:pt idx="27">
                  <c:v>1.0711</c:v>
                </c:pt>
                <c:pt idx="28">
                  <c:v>1.0914</c:v>
                </c:pt>
                <c:pt idx="29">
                  <c:v>1.1287</c:v>
                </c:pt>
                <c:pt idx="30">
                  <c:v>1.1316</c:v>
                </c:pt>
                <c:pt idx="31">
                  <c:v>1.0958</c:v>
                </c:pt>
                <c:pt idx="32">
                  <c:v>1.0352</c:v>
                </c:pt>
                <c:pt idx="33">
                  <c:v>1.1378</c:v>
                </c:pt>
                <c:pt idx="34">
                  <c:v>1.1807</c:v>
                </c:pt>
                <c:pt idx="35">
                  <c:v>1.1309</c:v>
                </c:pt>
                <c:pt idx="36">
                  <c:v>1.2064</c:v>
                </c:pt>
                <c:pt idx="37">
                  <c:v>1.2315</c:v>
                </c:pt>
                <c:pt idx="38">
                  <c:v>1.2425</c:v>
                </c:pt>
                <c:pt idx="39">
                  <c:v>1.2659</c:v>
                </c:pt>
                <c:pt idx="40">
                  <c:v>1.2917</c:v>
                </c:pt>
                <c:pt idx="41">
                  <c:v>1.2785</c:v>
                </c:pt>
                <c:pt idx="42">
                  <c:v>1.2691</c:v>
                </c:pt>
                <c:pt idx="43">
                  <c:v>1.2709</c:v>
                </c:pt>
                <c:pt idx="44">
                  <c:v>1.2676</c:v>
                </c:pt>
                <c:pt idx="45">
                  <c:v>1.2352</c:v>
                </c:pt>
                <c:pt idx="46">
                  <c:v>1.2017</c:v>
                </c:pt>
                <c:pt idx="47">
                  <c:v>1.2544</c:v>
                </c:pt>
                <c:pt idx="48">
                  <c:v>1.3025</c:v>
                </c:pt>
                <c:pt idx="49">
                  <c:v>1.2722</c:v>
                </c:pt>
                <c:pt idx="50">
                  <c:v>1.3348</c:v>
                </c:pt>
                <c:pt idx="51">
                  <c:v>1.451</c:v>
                </c:pt>
                <c:pt idx="52">
                  <c:v>1.6536</c:v>
                </c:pt>
                <c:pt idx="53">
                  <c:v>1.6918</c:v>
                </c:pt>
                <c:pt idx="54">
                  <c:v>1.6776</c:v>
                </c:pt>
                <c:pt idx="55">
                  <c:v>1.713</c:v>
                </c:pt>
                <c:pt idx="56">
                  <c:v>1.8896</c:v>
                </c:pt>
                <c:pt idx="57">
                  <c:v>1.897</c:v>
                </c:pt>
                <c:pt idx="58">
                  <c:v>1.9044</c:v>
                </c:pt>
                <c:pt idx="59">
                  <c:v>2.164</c:v>
                </c:pt>
                <c:pt idx="60">
                  <c:v>2.4645</c:v>
                </c:pt>
                <c:pt idx="61">
                  <c:v>2.2566</c:v>
                </c:pt>
                <c:pt idx="62">
                  <c:v>2.6914</c:v>
                </c:pt>
                <c:pt idx="63">
                  <c:v>2.5939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KOSPI200</c:v>
                </c:pt>
              </c:strCache>
            </c:strRef>
          </c:tx>
          <c:spPr>
            <a:ln w="22225"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Sheet1!$A$2:$A$65</c:f>
              <c:strCache>
                <c:ptCount val="64"/>
                <c:pt idx="0">
                  <c:v>21.03</c:v>
                </c:pt>
                <c:pt idx="1">
                  <c:v>21.04</c:v>
                </c:pt>
                <c:pt idx="2">
                  <c:v>21.05</c:v>
                </c:pt>
                <c:pt idx="3">
                  <c:v>21.06</c:v>
                </c:pt>
                <c:pt idx="4">
                  <c:v>21.07</c:v>
                </c:pt>
                <c:pt idx="5">
                  <c:v>21.08</c:v>
                </c:pt>
                <c:pt idx="6">
                  <c:v>21.09</c:v>
                </c:pt>
                <c:pt idx="7">
                  <c:v>21.10</c:v>
                </c:pt>
                <c:pt idx="8">
                  <c:v>21.11</c:v>
                </c:pt>
                <c:pt idx="9">
                  <c:v>21.12</c:v>
                </c:pt>
                <c:pt idx="10">
                  <c:v>22.01</c:v>
                </c:pt>
                <c:pt idx="11">
                  <c:v>22.02</c:v>
                </c:pt>
                <c:pt idx="12">
                  <c:v>22.03</c:v>
                </c:pt>
                <c:pt idx="13">
                  <c:v>22.04</c:v>
                </c:pt>
                <c:pt idx="14">
                  <c:v>22.05</c:v>
                </c:pt>
                <c:pt idx="15">
                  <c:v>22.06</c:v>
                </c:pt>
                <c:pt idx="16">
                  <c:v>22.07</c:v>
                </c:pt>
                <c:pt idx="17">
                  <c:v>22.08</c:v>
                </c:pt>
                <c:pt idx="18">
                  <c:v>22.09</c:v>
                </c:pt>
                <c:pt idx="19">
                  <c:v>22.10</c:v>
                </c:pt>
                <c:pt idx="20">
                  <c:v>22.11</c:v>
                </c:pt>
                <c:pt idx="21">
                  <c:v>22.12</c:v>
                </c:pt>
                <c:pt idx="22">
                  <c:v>23.01</c:v>
                </c:pt>
                <c:pt idx="23">
                  <c:v>23.02</c:v>
                </c:pt>
                <c:pt idx="24">
                  <c:v>23.03</c:v>
                </c:pt>
                <c:pt idx="25">
                  <c:v>23.04</c:v>
                </c:pt>
                <c:pt idx="26">
                  <c:v>23.05</c:v>
                </c:pt>
                <c:pt idx="27">
                  <c:v>23.06</c:v>
                </c:pt>
                <c:pt idx="28">
                  <c:v>23.07</c:v>
                </c:pt>
                <c:pt idx="29">
                  <c:v>23.08</c:v>
                </c:pt>
                <c:pt idx="30">
                  <c:v>23.09</c:v>
                </c:pt>
                <c:pt idx="31">
                  <c:v>23.10</c:v>
                </c:pt>
                <c:pt idx="32">
                  <c:v>23.11</c:v>
                </c:pt>
                <c:pt idx="33">
                  <c:v>23.12</c:v>
                </c:pt>
                <c:pt idx="34">
                  <c:v>24.01</c:v>
                </c:pt>
                <c:pt idx="35">
                  <c:v>24.02</c:v>
                </c:pt>
                <c:pt idx="36">
                  <c:v>24.03</c:v>
                </c:pt>
                <c:pt idx="37">
                  <c:v>24.04</c:v>
                </c:pt>
                <c:pt idx="38">
                  <c:v>24.05</c:v>
                </c:pt>
                <c:pt idx="39">
                  <c:v>24.06</c:v>
                </c:pt>
                <c:pt idx="40">
                  <c:v>24.07</c:v>
                </c:pt>
                <c:pt idx="41">
                  <c:v>24.08</c:v>
                </c:pt>
                <c:pt idx="42">
                  <c:v>24.09</c:v>
                </c:pt>
                <c:pt idx="43">
                  <c:v>24.10</c:v>
                </c:pt>
                <c:pt idx="44">
                  <c:v>24.11</c:v>
                </c:pt>
                <c:pt idx="45">
                  <c:v>24.12</c:v>
                </c:pt>
                <c:pt idx="46">
                  <c:v>25.01</c:v>
                </c:pt>
                <c:pt idx="47">
                  <c:v>25.02</c:v>
                </c:pt>
                <c:pt idx="48">
                  <c:v>25.03</c:v>
                </c:pt>
                <c:pt idx="49">
                  <c:v>25.04</c:v>
                </c:pt>
                <c:pt idx="50">
                  <c:v>25.05</c:v>
                </c:pt>
                <c:pt idx="51">
                  <c:v>25.06</c:v>
                </c:pt>
                <c:pt idx="52">
                  <c:v>25.07</c:v>
                </c:pt>
                <c:pt idx="53">
                  <c:v>25.08</c:v>
                </c:pt>
                <c:pt idx="54">
                  <c:v>25.09</c:v>
                </c:pt>
                <c:pt idx="55">
                  <c:v>25.10</c:v>
                </c:pt>
                <c:pt idx="56">
                  <c:v>25.11</c:v>
                </c:pt>
                <c:pt idx="57">
                  <c:v>25.12</c:v>
                </c:pt>
                <c:pt idx="58">
                  <c:v>26.01</c:v>
                </c:pt>
                <c:pt idx="59">
                  <c:v>26.02</c:v>
                </c:pt>
                <c:pt idx="60">
                  <c:v>26.03</c:v>
                </c:pt>
                <c:pt idx="61">
                  <c:v>26.04</c:v>
                </c:pt>
                <c:pt idx="62">
                  <c:v>26.05</c:v>
                </c:pt>
                <c:pt idx="63">
                  <c:v>26.06</c:v>
                </c:pt>
              </c:strCache>
            </c:strRef>
          </c:cat>
          <c:val>
            <c:numRef>
              <c:f>Sheet1!$E$2:$E$65</c:f>
              <c:numCache>
                <c:formatCode>General</c:formatCode>
                <c:ptCount val="64"/>
                <c:pt idx="0">
                  <c:v>1.0</c:v>
                </c:pt>
                <c:pt idx="1">
                  <c:v>1.0146</c:v>
                </c:pt>
                <c:pt idx="2">
                  <c:v>1.0281</c:v>
                </c:pt>
                <c:pt idx="3">
                  <c:v>1.0416</c:v>
                </c:pt>
                <c:pt idx="4">
                  <c:v>1.0682</c:v>
                </c:pt>
                <c:pt idx="5">
                  <c:v>1.0372</c:v>
                </c:pt>
                <c:pt idx="6">
                  <c:v>1.0199</c:v>
                </c:pt>
                <c:pt idx="7">
                  <c:v>0.9721</c:v>
                </c:pt>
                <c:pt idx="8">
                  <c:v>0.9497</c:v>
                </c:pt>
                <c:pt idx="9">
                  <c:v>0.9159</c:v>
                </c:pt>
                <c:pt idx="10">
                  <c:v>0.9663</c:v>
                </c:pt>
                <c:pt idx="11">
                  <c:v>0.8858</c:v>
                </c:pt>
                <c:pt idx="12">
                  <c:v>0.8796</c:v>
                </c:pt>
                <c:pt idx="13">
                  <c:v>0.8856</c:v>
                </c:pt>
                <c:pt idx="14">
                  <c:v>0.8548</c:v>
                </c:pt>
                <c:pt idx="15">
                  <c:v>0.8572</c:v>
                </c:pt>
                <c:pt idx="16">
                  <c:v>0.7511</c:v>
                </c:pt>
                <c:pt idx="17">
                  <c:v>0.7838</c:v>
                </c:pt>
                <c:pt idx="18">
                  <c:v>0.7755</c:v>
                </c:pt>
                <c:pt idx="19">
                  <c:v>0.6965</c:v>
                </c:pt>
                <c:pt idx="20">
                  <c:v>0.7312</c:v>
                </c:pt>
                <c:pt idx="21">
                  <c:v>0.7917</c:v>
                </c:pt>
                <c:pt idx="22">
                  <c:v>0.7127</c:v>
                </c:pt>
                <c:pt idx="23">
                  <c:v>0.7799</c:v>
                </c:pt>
                <c:pt idx="24">
                  <c:v>0.7672</c:v>
                </c:pt>
                <c:pt idx="25">
                  <c:v>0.7863</c:v>
                </c:pt>
                <c:pt idx="26">
                  <c:v>0.7956</c:v>
                </c:pt>
                <c:pt idx="27">
                  <c:v>0.8233</c:v>
                </c:pt>
                <c:pt idx="28">
                  <c:v>0.8279</c:v>
                </c:pt>
                <c:pt idx="29">
                  <c:v>0.8451</c:v>
                </c:pt>
                <c:pt idx="30">
                  <c:v>0.8129</c:v>
                </c:pt>
                <c:pt idx="31">
                  <c:v>0.7849</c:v>
                </c:pt>
                <c:pt idx="32">
                  <c:v>0.7483</c:v>
                </c:pt>
                <c:pt idx="33">
                  <c:v>0.8192</c:v>
                </c:pt>
                <c:pt idx="34">
                  <c:v>0.8672</c:v>
                </c:pt>
                <c:pt idx="35">
                  <c:v>0.8173</c:v>
                </c:pt>
                <c:pt idx="36">
                  <c:v>0.8735</c:v>
                </c:pt>
                <c:pt idx="37">
                  <c:v>0.9189</c:v>
                </c:pt>
                <c:pt idx="38">
                  <c:v>0.8841</c:v>
                </c:pt>
                <c:pt idx="39">
                  <c:v>0.88</c:v>
                </c:pt>
                <c:pt idx="40">
                  <c:v>0.9321</c:v>
                </c:pt>
                <c:pt idx="41">
                  <c:v>0.9335</c:v>
                </c:pt>
                <c:pt idx="42">
                  <c:v>0.8822</c:v>
                </c:pt>
                <c:pt idx="43">
                  <c:v>0.8291</c:v>
                </c:pt>
                <c:pt idx="44">
                  <c:v>0.8213</c:v>
                </c:pt>
                <c:pt idx="45">
                  <c:v>0.7992</c:v>
                </c:pt>
                <c:pt idx="46">
                  <c:v>0.7729</c:v>
                </c:pt>
                <c:pt idx="47">
                  <c:v>0.7943</c:v>
                </c:pt>
                <c:pt idx="48">
                  <c:v>0.8092</c:v>
                </c:pt>
                <c:pt idx="49">
                  <c:v>0.8193</c:v>
                </c:pt>
                <c:pt idx="50">
                  <c:v>0.824</c:v>
                </c:pt>
                <c:pt idx="51">
                  <c:v>0.8729</c:v>
                </c:pt>
                <c:pt idx="52">
                  <c:v>1.0149</c:v>
                </c:pt>
                <c:pt idx="53">
                  <c:v>1.0529</c:v>
                </c:pt>
                <c:pt idx="54">
                  <c:v>1.0373</c:v>
                </c:pt>
                <c:pt idx="55">
                  <c:v>1.161</c:v>
                </c:pt>
                <c:pt idx="56">
                  <c:v>1.4132</c:v>
                </c:pt>
                <c:pt idx="57">
                  <c:v>1.3639</c:v>
                </c:pt>
                <c:pt idx="58">
                  <c:v>1.4785</c:v>
                </c:pt>
                <c:pt idx="59">
                  <c:v>1.8298</c:v>
                </c:pt>
                <c:pt idx="60">
                  <c:v>2.242</c:v>
                </c:pt>
                <c:pt idx="61">
                  <c:v>1.9206</c:v>
                </c:pt>
                <c:pt idx="62">
                  <c:v>2.4876</c:v>
                </c:pt>
                <c:pt idx="63">
                  <c:v>3.2703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max val="7.0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59595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VKOSPI 18 이상 (36개월)</c:v>
                </c:pt>
              </c:strCache>
            </c:strRef>
          </c:tx>
          <c:spPr>
            <a:solidFill>
              <a:srgbClr val="1B5E5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전략 (하위 20개)</c:v>
                </c:pt>
                <c:pt idx="1">
                  <c:v>유니버스 동일가중</c:v>
                </c:pt>
                <c:pt idx="2">
                  <c:v>초과수익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3.7</c:v>
                </c:pt>
                <c:pt idx="2">
                  <c:v>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VKOSPI 18 미만 (27개월)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전략 (하위 20개)</c:v>
                </c:pt>
                <c:pt idx="1">
                  <c:v>유니버스 동일가중</c:v>
                </c:pt>
                <c:pt idx="2">
                  <c:v>초과수익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-2.0</c:v>
                </c:pt>
                <c:pt idx="1">
                  <c:v>-1.0</c:v>
                </c:pt>
                <c:pt idx="2">
                  <c:v>-1.0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-4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2.0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95959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VKOSPI 18 이상</c:v>
                </c:pt>
              </c:strCache>
            </c:strRef>
          </c:tx>
          <c:spPr>
            <a:solidFill>
              <a:srgbClr val="1B5E5C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</c:v>
                </c:pt>
                <c:pt idx="1">
                  <c:v>3.8</c:v>
                </c:pt>
                <c:pt idx="2">
                  <c:v>3.3</c:v>
                </c:pt>
                <c:pt idx="3">
                  <c:v>2.6</c:v>
                </c:pt>
                <c:pt idx="4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VKOSPI 18 미만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-1.7</c:v>
                </c:pt>
                <c:pt idx="1">
                  <c:v>-1.2</c:v>
                </c:pt>
                <c:pt idx="2">
                  <c:v>-1.2</c:v>
                </c:pt>
                <c:pt idx="3">
                  <c:v>-0.3</c:v>
                </c:pt>
                <c:pt idx="4">
                  <c:v>-0.6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-3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1.5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95959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B5E5C"/>
            </a:solidFill>
          </c:spPr>
          <c:invertIfNegative val="0"/>
          <c:dPt>
            <c:idx val="0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1B5E5C"/>
              </a:solidFill>
            </c:spPr>
          </c:dPt>
          <c:dPt>
            <c:idx val="2"/>
            <c:spPr>
              <a:solidFill>
                <a:srgbClr val="1B5E5C"/>
              </a:solidFill>
            </c:spPr>
          </c:dPt>
          <c:dPt>
            <c:idx val="3"/>
            <c:spPr>
              <a:solidFill>
                <a:srgbClr val="1B5E5C"/>
              </a:solidFill>
            </c:spPr>
          </c:dPt>
          <c:dPt>
            <c:idx val="4"/>
            <c:spPr>
              <a:solidFill>
                <a:srgbClr val="1B5E5C"/>
              </a:solidFill>
            </c:spPr>
          </c:dPt>
          <c:dPt>
            <c:idx val="5"/>
            <c:spPr>
              <a:solidFill>
                <a:srgbClr val="1B5E5C"/>
              </a:solidFill>
            </c:spPr>
          </c:dPt>
          <c:cat>
            <c:strRef>
              <c:f>Sheet1!$A$2:$A$7</c:f>
              <c:strCache>
                <c:ptCount val="6"/>
                <c:pt idx="0">
                  <c:v>없음</c:v>
                </c:pt>
                <c:pt idx="1">
                  <c:v>15</c:v>
                </c:pt>
                <c:pt idx="2">
                  <c:v>18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</c:v>
                </c:pt>
                <c:pt idx="1">
                  <c:v>1.06</c:v>
                </c:pt>
                <c:pt idx="2">
                  <c:v>1.71</c:v>
                </c:pt>
                <c:pt idx="3">
                  <c:v>1.4</c:v>
                </c:pt>
                <c:pt idx="4">
                  <c:v>0.73</c:v>
                </c:pt>
                <c:pt idx="5">
                  <c:v>0.57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1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B5E5C"/>
            </a:solidFill>
          </c:spPr>
          <c:invertIfNegative val="0"/>
          <c:dPt>
            <c:idx val="0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1B5E5C"/>
              </a:solidFill>
            </c:spPr>
          </c:dPt>
          <c:dPt>
            <c:idx val="4"/>
            <c:spPr>
              <a:solidFill>
                <a:srgbClr val="1B5E5C"/>
              </a:solidFill>
            </c:spPr>
          </c:dPt>
          <c:dPt>
            <c:idx val="5"/>
            <c:spPr>
              <a:solidFill>
                <a:srgbClr val="1B5E5C"/>
              </a:solidFill>
            </c:spPr>
          </c:dPt>
          <c:dPt>
            <c:idx val="6"/>
            <c:spPr>
              <a:solidFill>
                <a:srgbClr val="1B5E5C"/>
              </a:solidFill>
            </c:spPr>
          </c:dPt>
          <c:cat>
            <c:strRef>
              <c:f>Sheet1!$A$2:$A$8</c:f>
              <c:strCache>
                <c:ptCount val="7"/>
                <c:pt idx="0">
                  <c:v>~15</c:v>
                </c:pt>
                <c:pt idx="1">
                  <c:v>~17</c:v>
                </c:pt>
                <c:pt idx="2">
                  <c:v>~18</c:v>
                </c:pt>
                <c:pt idx="3">
                  <c:v>~19</c:v>
                </c:pt>
                <c:pt idx="4">
                  <c:v>~21</c:v>
                </c:pt>
                <c:pt idx="5">
                  <c:v>~25</c:v>
                </c:pt>
                <c:pt idx="6">
                  <c:v>25~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-1.5</c:v>
                </c:pt>
                <c:pt idx="1">
                  <c:v>-3.5</c:v>
                </c:pt>
                <c:pt idx="2">
                  <c:v>-1.4</c:v>
                </c:pt>
                <c:pt idx="3">
                  <c:v>2.5</c:v>
                </c:pt>
                <c:pt idx="4">
                  <c:v>8.6</c:v>
                </c:pt>
                <c:pt idx="5">
                  <c:v>5.4</c:v>
                </c:pt>
                <c:pt idx="6">
                  <c:v>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-5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1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B5E5C"/>
            </a:solidFill>
          </c:spPr>
          <c:invertIfNegative val="0"/>
          <c:dPt>
            <c:idx val="0"/>
            <c:spPr>
              <a:solidFill>
                <a:srgbClr val="1B5E5C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cat>
            <c:strRef>
              <c:f>Sheet1!$A$2:$A$4</c:f>
              <c:strCache>
                <c:ptCount val="3"/>
                <c:pt idx="0">
                  <c:v>필터</c:v>
                </c:pt>
                <c:pt idx="1">
                  <c:v>필터 없음</c:v>
                </c:pt>
                <c:pt idx="2">
                  <c:v>유니버스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1.26</c:v>
                </c:pt>
                <c:pt idx="1">
                  <c:v>0.27</c:v>
                </c:pt>
                <c:pt idx="2">
                  <c:v>0.37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1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03430-BEF1-4165-95C5-A7C7C24D5B17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D4CCB-E823-4E1D-8081-DB2294E50C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750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D4CCB-E823-4E1D-8081-DB2294E50CA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756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0E0B-A81F-EEBB-038B-BF023691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C18709-0165-79C3-FA6F-B7E17AA80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F90829-3048-7F37-4C36-1A9256F96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938CC-73D8-A912-FEE0-73FBF138D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D4CCB-E823-4E1D-8081-DB2294E50CA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64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6AF9B-1400-8594-3A46-1A0564A90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1F99E7-CB4E-793D-BBAB-CBD7E69A4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4363C-67AB-0DB7-AC36-FE537F81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C497CE-916C-E61F-9AA9-6CC6CFAF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F1555-9C47-1E65-2972-10DBF749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9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16C9A-C473-02E8-6858-EAF779C0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AEF388-2A08-E52D-77D8-4A10B20BE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EDB362-4D15-F478-8FB2-2528F819E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EC4A3C-657B-A1BB-D006-717102DA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1E7627-5B06-B2F9-21B0-634A3AC5C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6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EB501-5E42-3B74-035D-2CE338C6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633ECA-734D-D95E-EC89-6F75D3ED3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C35A3F-2155-FB42-17C5-B6121224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AD62E-6955-B4C0-528C-9FE4F44C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F89C2E-C033-0AD9-D689-6BCEBA73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18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D448B-1F43-CAD7-50D1-452FB02C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2A04E-8A51-8FE3-1998-F68068105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BDA0E8-1A88-C4A0-9316-1CC114D66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5E0410-AB04-8EB2-E61A-1332E978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BAB9E0-A824-D934-6607-E0438659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1D038-9A2D-9329-90EC-3A559045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27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5366C-D89B-F653-C638-52BA15B9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A2A882-C671-8B3D-B84B-57C08D0A8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2FEABE-B1C9-00FD-A05C-85B94D749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E0E02A-07C6-7547-8F95-C605168D1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48004E-635D-77A5-B7C9-290706330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44813F-C829-7100-13E0-7E93CA40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8515EF-91D1-2EFE-D69B-B1CF23BE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C62574-CB90-9475-52B0-6213B805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51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002BD-57BF-5923-E8F3-D9F24AD2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345976-6D98-3DB4-650E-FBE5B6EA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AAF50B-D769-C400-F56F-D369DEC0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011274-B8E9-0BFD-EB75-7DA2EB42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78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DD65D1-46ED-F63D-6780-9F951CFD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C81854-EC67-E765-B591-FD2D4A60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E83CF-8CD8-0133-F6BF-1E41430E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72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6F2CD-FA96-B69F-EB21-024744F8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341FB-D671-4EF0-C752-B26256D9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E88925-C566-D48F-8E6E-C52B19341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EED8F7-E156-1016-2799-E9B93E6B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26F355-294A-FD3E-2E82-21D8184F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DD1172-302A-0852-FD3D-9EF3FF51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79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8E40F-8BCD-5BF9-009B-6C3440D7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D3EEA7-9501-CEED-20F1-7EA75BA62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8B8B2-8332-638E-1E65-77A3BF08E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4EF744-6DEF-F322-5984-A24DE7E5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644826-E5A1-3416-EBD4-BBD68A25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25FEB2-9618-AFAA-8A88-DD514B0B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99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635CB-392A-87C0-F317-CDB718D5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C6A463-6ADC-7436-D14A-4A8A4ACDF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A68DA8-A928-9286-5A74-04F2BA21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860C3-60B3-974B-91A7-4A25849C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5352C-BC16-46C8-2AAE-39EFFAEC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66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EA1439-0450-752E-5720-CEB7C6A01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9A9E76-F24C-1BBF-2633-7829C2808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239DAE-A94E-A9AA-33E5-27FB68AC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EB753-F83F-B687-E5A2-E8841E8E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70B6D-D38D-0A99-4A77-CEBDA9AF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542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FA8585-F5AC-E3FB-4028-D7DDB44B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A62FFE-FA7E-8A57-29E1-8C935946A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3D9ED0-777E-7FE1-48E4-45E6BB25B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451BA-396F-4E1D-96ED-857E3C301A7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57F655-2EBF-465B-66D5-389898F35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9AB6F-14FE-E168-CA9F-C71CD857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7AD6C-05E7-4664-81F1-E26739D74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03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The image shows a busy office environment with multiple computer screens, each displaying various data and interfaces, surrounded by busy employees working at their desks.&#10;&#10;AI 생성 콘텐츠는 정확하지 않을 수 있습니다.">
            <a:extLst>
              <a:ext uri="{FF2B5EF4-FFF2-40B4-BE49-F238E27FC236}">
                <a16:creationId xmlns:a16="http://schemas.microsoft.com/office/drawing/2014/main" id="{6E757B9C-2C05-B87D-2171-84660E0DE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727" y="0"/>
            <a:ext cx="5022273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A3335B7-698E-7227-9D66-BFB93FEB197A}"/>
              </a:ext>
            </a:extLst>
          </p:cNvPr>
          <p:cNvSpPr/>
          <p:nvPr/>
        </p:nvSpPr>
        <p:spPr>
          <a:xfrm>
            <a:off x="0" y="0"/>
            <a:ext cx="813816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3" name="Image 1" descr="/home/claude/work/otm_icon_white.png">
            <a:extLst>
              <a:ext uri="{FF2B5EF4-FFF2-40B4-BE49-F238E27FC236}">
                <a16:creationId xmlns:a16="http://schemas.microsoft.com/office/drawing/2014/main" id="{EC6FF768-2F9B-FAC7-0B25-AF99E37B1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02920"/>
            <a:ext cx="566928" cy="3886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3584" y="530352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OTM: Out of the Money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2331720" cy="402336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Quant Research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50592"/>
            <a:ext cx="6949440" cy="1600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VKOSPI ×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낙폭과대주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60520"/>
            <a:ext cx="694944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변동성 필터는 무엇을 걸러내는가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54880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KOSPI200 200종목 · VKOSPI · 2021~2026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89320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이성규  |  FICC &amp; Quant Club  |  2026.10</a:t>
            </a:r>
          </a:p>
        </p:txBody>
      </p:sp>
    </p:spTree>
    <p:extLst>
      <p:ext uri="{BB962C8B-B14F-4D97-AF65-F5344CB8AC3E}">
        <p14:creationId xmlns:p14="http://schemas.microsoft.com/office/powerpoint/2010/main" val="19011346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Rectangle 101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2" name="TextBox 102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필터 효과의 대부분은 종목 선택이 아니라 시장 타이밍이다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KOSPI200 200종목, 1개월 이격도 하위 20개를 월말마다 교체, 63개월 (2021.02~2026.04)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sp>
        <p:nvSpPr>
          <p:cNvPr id="106" name="Rounded Rectangle 106"/>
          <p:cNvSpPr/>
          <p:nvPr/>
        </p:nvSpPr>
        <p:spPr>
          <a:xfrm>
            <a:off x="521207" y="2148840"/>
            <a:ext cx="3538728" cy="1600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26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1.71  vs  0.93</a:t>
            </a:r>
          </a:p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Sharpe</a:t>
            </a:r>
          </a:p>
          <a:p>
            <a:pPr algn="ctr"/>
            <a:r>
              <a:rPr lang="ko-KR" sz="12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VKOSPI 18 이상에만 진입  vs  매달 진입</a:t>
            </a:r>
          </a:p>
        </p:txBody>
      </p:sp>
      <p:sp>
        <p:nvSpPr>
          <p:cNvPr id="107" name="Rounded Rectangle 107"/>
          <p:cNvSpPr/>
          <p:nvPr/>
        </p:nvSpPr>
        <p:spPr>
          <a:xfrm>
            <a:off x="4279392" y="2148840"/>
            <a:ext cx="3538728" cy="1600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26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+3.7%  vs  −1.0%</a:t>
            </a:r>
          </a:p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유니버스 다음 달 수익률</a:t>
            </a:r>
          </a:p>
          <a:p>
            <a:pPr algn="ctr"/>
            <a:r>
              <a:rPr lang="ko-KR" sz="12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VKOSPI 18 이상  vs  미만</a:t>
            </a:r>
          </a:p>
        </p:txBody>
      </p:sp>
      <p:sp>
        <p:nvSpPr>
          <p:cNvPr id="108" name="Rounded Rectangle 108"/>
          <p:cNvSpPr/>
          <p:nvPr/>
        </p:nvSpPr>
        <p:spPr>
          <a:xfrm>
            <a:off x="8037577" y="2148840"/>
            <a:ext cx="3538728" cy="1600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26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+1.7%</a:t>
            </a:r>
          </a:p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낙폭과대주 초과수익 (월)</a:t>
            </a:r>
          </a:p>
          <a:p>
            <a:pPr algn="ctr"/>
            <a:r>
              <a:rPr lang="ko-KR" sz="12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고변동성 달, t값 2.4. 베타 감안 시 1.2</a:t>
            </a:r>
          </a:p>
        </p:txBody>
      </p:sp>
      <p:sp>
        <p:nvSpPr>
          <p:cNvPr id="109" name="Rounded Rectangle 109"/>
          <p:cNvSpPr/>
          <p:nvPr/>
        </p:nvSpPr>
        <p:spPr>
          <a:xfrm>
            <a:off x="521207" y="4041648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필터 효과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286000" y="4041648"/>
            <a:ext cx="9290302" cy="60350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18 이상인 달에만 진입하면 CAGR 26%→41%, MDD −19%→−9%. 2021~2024년만 봐도, 편도 20bp 비용을 넣어도 유지된다.</a:t>
            </a:r>
          </a:p>
        </p:txBody>
      </p:sp>
      <p:sp>
        <p:nvSpPr>
          <p:cNvPr id="111" name="Rounded Rectangle 111"/>
          <p:cNvSpPr/>
          <p:nvPr/>
        </p:nvSpPr>
        <p:spPr>
          <a:xfrm>
            <a:off x="521207" y="4791456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분해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286000" y="4791456"/>
            <a:ext cx="9290302" cy="60350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같은 구분에서 유니버스 전체가 +3.7%와 −1.0%로 갈린다. 전략 수익률 차이 7.4%p 가운데 4.7%p는 종목을 고르지 않아도 얻는다.</a:t>
            </a:r>
          </a:p>
        </p:txBody>
      </p:sp>
      <p:sp>
        <p:nvSpPr>
          <p:cNvPr id="113" name="Rounded Rectangle 113"/>
          <p:cNvSpPr/>
          <p:nvPr/>
        </p:nvSpPr>
        <p:spPr>
          <a:xfrm>
            <a:off x="521207" y="5541264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결론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286000" y="5541264"/>
            <a:ext cx="9290302" cy="60350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낙폭과대 팩터의 알파는 방향만 확인됐다. 변동성이 튄 뒤 주식을 사고, 그때 낙폭과대주 쪽으로 기울이는 전략으로 읽는다.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Rectangle 115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6" name="TextBox 116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가설: 변동성이 튄 뒤에는 같이 끌려 내려간 종목이 더 반등한다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증권사 퀀트 보고서의 주장. VKOSPI 18 이상 구간에서 1개월 이격도 팩터가 월평균 1.2%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sp>
        <p:nvSpPr>
          <p:cNvPr id="120" name="Rounded Rectangle 120"/>
          <p:cNvSpPr/>
          <p:nvPr/>
        </p:nvSpPr>
        <p:spPr>
          <a:xfrm>
            <a:off x="521207" y="224028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변동성 급등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21207" y="2898648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ctr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지수가 급하게 빠지면서 VKOSPI가 오른다.</a:t>
            </a:r>
          </a:p>
        </p:txBody>
      </p:sp>
      <p:cxnSp>
        <p:nvCxnSpPr>
          <p:cNvPr id="122" name="Connector 122"/>
          <p:cNvCxnSpPr/>
          <p:nvPr/>
        </p:nvCxnSpPr>
        <p:spPr>
          <a:xfrm>
            <a:off x="2926079" y="2523744"/>
            <a:ext cx="402336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123" name="Rounded Rectangle 123"/>
          <p:cNvSpPr/>
          <p:nvPr/>
        </p:nvSpPr>
        <p:spPr>
          <a:xfrm>
            <a:off x="3401567" y="224028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동반 급락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401567" y="2898648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ctr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손절, 마진콜, 패시브 매도로 종목이 펀더멘털과 무관하게 같이 빠진다.</a:t>
            </a:r>
          </a:p>
        </p:txBody>
      </p:sp>
      <p:cxnSp>
        <p:nvCxnSpPr>
          <p:cNvPr id="125" name="Connector 125"/>
          <p:cNvCxnSpPr/>
          <p:nvPr/>
        </p:nvCxnSpPr>
        <p:spPr>
          <a:xfrm>
            <a:off x="5806439" y="2523744"/>
            <a:ext cx="402336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126" name="Rounded Rectangle 126"/>
          <p:cNvSpPr/>
          <p:nvPr/>
        </p:nvSpPr>
        <p:spPr>
          <a:xfrm>
            <a:off x="6281927" y="224028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수급 해소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281927" y="2898648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ctr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매도 물량이 소화되고 지수가 진정된다.</a:t>
            </a:r>
          </a:p>
        </p:txBody>
      </p:sp>
      <p:cxnSp>
        <p:nvCxnSpPr>
          <p:cNvPr id="128" name="Connector 128"/>
          <p:cNvCxnSpPr/>
          <p:nvPr/>
        </p:nvCxnSpPr>
        <p:spPr>
          <a:xfrm>
            <a:off x="8686799" y="2523744"/>
            <a:ext cx="402336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</p:cxnSp>
      <p:sp>
        <p:nvSpPr>
          <p:cNvPr id="129" name="Rounded Rectangle 129"/>
          <p:cNvSpPr/>
          <p:nvPr/>
        </p:nvSpPr>
        <p:spPr>
          <a:xfrm>
            <a:off x="9162287" y="2240280"/>
            <a:ext cx="2331720" cy="566928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낙폭과대주 반등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9162287" y="2898648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ctr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많이 빠진 종목일수록 되돌림이 크다.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21207" y="376732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이 설명이 맞다면 확인할 수 있어야 하는 것</a:t>
            </a:r>
          </a:p>
        </p:txBody>
      </p:sp>
      <p:sp>
        <p:nvSpPr>
          <p:cNvPr id="132" name="Rounded Rectangle 132"/>
          <p:cNvSpPr/>
          <p:nvPr/>
        </p:nvSpPr>
        <p:spPr>
          <a:xfrm>
            <a:off x="521207" y="420624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4C9F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필터가 통하는가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2697480" y="4206240"/>
            <a:ext cx="887882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VKOSPI가 높을 때만 진입한 전략이 매달 진입한 전략보다 위험 대비 성과가 좋은가.</a:t>
            </a:r>
          </a:p>
        </p:txBody>
      </p:sp>
      <p:sp>
        <p:nvSpPr>
          <p:cNvPr id="134" name="Rounded Rectangle 134"/>
          <p:cNvSpPr/>
          <p:nvPr/>
        </p:nvSpPr>
        <p:spPr>
          <a:xfrm>
            <a:off x="521207" y="4901183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4C9F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종목 선택인가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697480" y="4901183"/>
            <a:ext cx="887882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변동성이 튄 다음 달에는 시장 전체가 반등한다. 아무 종목이나 들고 있었어도 좋았던 것은 아닌가.</a:t>
            </a:r>
          </a:p>
        </p:txBody>
      </p:sp>
      <p:sp>
        <p:nvSpPr>
          <p:cNvPr id="136" name="Rounded Rectangle 136"/>
          <p:cNvSpPr/>
          <p:nvPr/>
        </p:nvSpPr>
        <p:spPr>
          <a:xfrm>
            <a:off x="521207" y="5596126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4C9F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우연이 아닌가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697480" y="5596126"/>
            <a:ext cx="8878822" cy="548640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임계값 18과 분석 기간을 바꿔도 결론이 유지되는가.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Rectangle 138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9" name="TextBox 139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전략 규칙: 월말에 이격도 하위 20개, VKOSPI 18 이상일 때만 산다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신호는 종가로 계산하고 체결은 다음 거래일 시가로 한다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21207" y="2103120"/>
          <a:ext cx="11055094" cy="27980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68815"/>
                <a:gridCol w="5085343"/>
                <a:gridCol w="4200936"/>
              </a:tblGrid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유니버스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KOSPI200 구성종목 200개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2026년 시점 구성종목. 과거 편출입은 반영하지 못했다.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시그널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1개월 이격도 = 종가 / 20일 이동평균 × 100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낮을수록 낙폭과대. 매월 마지막 거래일에 계산한다.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진입 조건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신호일 VKOSPI 종가 18 이상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미만이면 그달은 현금으로 쉰다.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체결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다음 거래일 시가 매수, 다음 달 신호일 다음 날 시가 매도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신호를 본 종가에 그대로 체결한다는 가정을 뺐다.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비중·비용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20종목 동일가중. 기본은 비용 없음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편도 20bp를 넣은 결과를 따로 계산했다.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Rounded Rectangle 143"/>
          <p:cNvSpPr/>
          <p:nvPr/>
        </p:nvSpPr>
        <p:spPr>
          <a:xfrm>
            <a:off x="521207" y="5138928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20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63개월</a:t>
            </a:r>
          </a:p>
          <a:p>
            <a:pPr algn="ctr"/>
            <a:r>
              <a:rPr lang="ko-KR" sz="12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신호일 (2021.02~2026.04)</a:t>
            </a:r>
          </a:p>
        </p:txBody>
      </p:sp>
      <p:sp>
        <p:nvSpPr>
          <p:cNvPr id="144" name="Rounded Rectangle 144"/>
          <p:cNvSpPr/>
          <p:nvPr/>
        </p:nvSpPr>
        <p:spPr>
          <a:xfrm>
            <a:off x="3355848" y="5138928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20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36번</a:t>
            </a:r>
          </a:p>
          <a:p>
            <a:pPr algn="ctr"/>
            <a:r>
              <a:rPr lang="ko-KR" sz="1200" b="0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VKOSPI 18 이상으로 진입한 달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6263640" y="5138928"/>
            <a:ext cx="5303520" cy="1051560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처음 코드는 월말 종가로 사고 다음 월말 종가로 파는 계산이었고, 지수와 비교할 때 시작일이 서로 달랐다. 체결을 시가로 바꾸고 벤치마크를 전략과 같은 매수·매도 구간으로 맞췄다.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6" name="Rectangle 146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7" name="TextBox 147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성과: 필터를 걸면 Sharpe 0.93→1.71, 낙폭은 절반 아래로 준다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누적 자산 (시작 = 1), 거래비용 반영 전. 지수와 유니버스도 같은 매수·매도 구간으로 계산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graphicFrame>
        <p:nvGraphicFramePr>
          <p:cNvPr id="151" name="Chart 150"/>
          <p:cNvGraphicFramePr>
            <a:graphicFrameLocks noGrp="1"/>
          </p:cNvGraphicFramePr>
          <p:nvPr/>
        </p:nvGraphicFramePr>
        <p:xfrm>
          <a:off x="411480" y="210312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1" name="Rounded Rectangle 151"/>
          <p:cNvSpPr/>
          <p:nvPr/>
        </p:nvSpPr>
        <p:spPr>
          <a:xfrm>
            <a:off x="7360920" y="2240280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41% vs 26%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9555480" y="2240280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CAGR. 유니버스 동일가중은 20%, KOSPI200은 25%.</a:t>
            </a:r>
          </a:p>
        </p:txBody>
      </p:sp>
      <p:sp>
        <p:nvSpPr>
          <p:cNvPr id="153" name="Rounded Rectangle 153"/>
          <p:cNvSpPr/>
          <p:nvPr/>
        </p:nvSpPr>
        <p:spPr>
          <a:xfrm>
            <a:off x="7360920" y="3209544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−9% vs −19%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9555480" y="3209544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월말 기준 MDD. 크게 잃은 달은 모두 필터가 꺼진 달이었다.</a:t>
            </a:r>
          </a:p>
        </p:txBody>
      </p:sp>
      <p:sp>
        <p:nvSpPr>
          <p:cNvPr id="155" name="Rounded Rectangle 155"/>
          <p:cNvSpPr/>
          <p:nvPr/>
        </p:nvSpPr>
        <p:spPr>
          <a:xfrm>
            <a:off x="7360920" y="4178808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78% vs 57%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9555480" y="4178808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진입한 달의 승률. 필터 전략은 63개월 가운데 36번만 진입한다.</a:t>
            </a:r>
          </a:p>
        </p:txBody>
      </p:sp>
      <p:sp>
        <p:nvSpPr>
          <p:cNvPr id="157" name="Rounded Rectangle 157"/>
          <p:cNvSpPr/>
          <p:nvPr/>
        </p:nvSpPr>
        <p:spPr>
          <a:xfrm>
            <a:off x="7360920" y="5148072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1.71 → 1.58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9555480" y="5148072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편도 20bp를 넣은 Sharpe. 전월 종목이 다시 뽑히는 비율은 12%다.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9" name="Rectangle 159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0" name="TextBox 160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필터 효과의 3분의 2는 시장 타이밍이다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신호일 VKOSPI 수준별 다음 달 평균 수익률 (%). 전략 = 필터 없이 매달 진입, 초과 = 전략 − 유니버스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graphicFrame>
        <p:nvGraphicFramePr>
          <p:cNvPr id="164" name="Chart 163"/>
          <p:cNvGraphicFramePr>
            <a:graphicFrameLocks noGrp="1"/>
          </p:cNvGraphicFramePr>
          <p:nvPr/>
        </p:nvGraphicFramePr>
        <p:xfrm>
          <a:off x="411480" y="210312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4" name="Rounded Rectangle 164"/>
          <p:cNvSpPr/>
          <p:nvPr/>
        </p:nvSpPr>
        <p:spPr>
          <a:xfrm>
            <a:off x="7360920" y="2240280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+5.4% vs −2.0%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9555480" y="2240280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전략 수익률. 차이의 p값은 0.001 미만이다.</a:t>
            </a:r>
          </a:p>
        </p:txBody>
      </p:sp>
      <p:sp>
        <p:nvSpPr>
          <p:cNvPr id="166" name="Rounded Rectangle 166"/>
          <p:cNvSpPr/>
          <p:nvPr/>
        </p:nvSpPr>
        <p:spPr>
          <a:xfrm>
            <a:off x="7360920" y="3209544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+3.7% vs −1.0%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9555480" y="3209544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유니버스 전체. 종목을 고르지 않아도 4.7%p 차이가 난다.</a:t>
            </a:r>
          </a:p>
        </p:txBody>
      </p:sp>
      <p:sp>
        <p:nvSpPr>
          <p:cNvPr id="168" name="Rounded Rectangle 168"/>
          <p:cNvSpPr/>
          <p:nvPr/>
        </p:nvSpPr>
        <p:spPr>
          <a:xfrm>
            <a:off x="7360920" y="4178808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+1.7% vs −1.0%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9555480" y="4178808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초과수익. t값 2.4와 −1.6, 차이의 p값 0.006.</a:t>
            </a:r>
          </a:p>
        </p:txBody>
      </p:sp>
      <p:sp>
        <p:nvSpPr>
          <p:cNvPr id="170" name="Rounded Rectangle 170"/>
          <p:cNvSpPr/>
          <p:nvPr/>
        </p:nvSpPr>
        <p:spPr>
          <a:xfrm>
            <a:off x="7360920" y="5148072"/>
            <a:ext cx="20574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베타 1.2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9555480" y="5148072"/>
            <a:ext cx="20574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베타를 감안한 고변동성 달의 알파는 월 +1.0%, t값 1.2.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2" name="Rectangle 172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73" name="TextBox 173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5분위로 보면 낙폭과대주만이 아니라 양 끝이 모두 오른다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이격도 5분위별 다음 달 평균 수익률 (%). Q1 = 가장 많이 빠진 종목, Q5 = 가장 많이 오른 종목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graphicFrame>
        <p:nvGraphicFramePr>
          <p:cNvPr id="177" name="Chart 176"/>
          <p:cNvGraphicFramePr>
            <a:graphicFrameLocks noGrp="1"/>
          </p:cNvGraphicFramePr>
          <p:nvPr/>
        </p:nvGraphicFramePr>
        <p:xfrm>
          <a:off x="411480" y="210312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7" name="Rounded Rectangle 177"/>
          <p:cNvSpPr/>
          <p:nvPr/>
        </p:nvSpPr>
        <p:spPr>
          <a:xfrm>
            <a:off x="7360920" y="2240280"/>
            <a:ext cx="16002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Q1 +4.7%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9098280" y="2240280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고변동성 달에는 가장 많이 빠진 그룹이 가장 높다. Q4까지는 순서대로 낮아진다.</a:t>
            </a:r>
          </a:p>
        </p:txBody>
      </p:sp>
      <p:sp>
        <p:nvSpPr>
          <p:cNvPr id="179" name="Rounded Rectangle 179"/>
          <p:cNvSpPr/>
          <p:nvPr/>
        </p:nvSpPr>
        <p:spPr>
          <a:xfrm>
            <a:off x="7360920" y="3209544"/>
            <a:ext cx="16002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Q5 +4.0%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9098280" y="3209544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가장 많이 오른 그룹도 Q1 다음으로 높다. 낙폭과대보다 변동이 큰 종목의 반등으로 보인다.</a:t>
            </a:r>
          </a:p>
        </p:txBody>
      </p:sp>
      <p:sp>
        <p:nvSpPr>
          <p:cNvPr id="181" name="Rounded Rectangle 181"/>
          <p:cNvSpPr/>
          <p:nvPr/>
        </p:nvSpPr>
        <p:spPr>
          <a:xfrm>
            <a:off x="7360920" y="4178808"/>
            <a:ext cx="16002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t 0.6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9098280" y="4178808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Q1−Q5는 월 +0.7%. 주도주보다 강하다는 주장은 유의하지 않다.</a:t>
            </a:r>
          </a:p>
        </p:txBody>
      </p:sp>
      <p:sp>
        <p:nvSpPr>
          <p:cNvPr id="183" name="Rounded Rectangle 183"/>
          <p:cNvSpPr/>
          <p:nvPr/>
        </p:nvSpPr>
        <p:spPr>
          <a:xfrm>
            <a:off x="7360920" y="5148072"/>
            <a:ext cx="1600200" cy="78638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Q1 −1.7%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9098280" y="5148072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저변동성 달에는 Q1이 가장 나쁘다. 혼자 빠진 종목은 계속 빠진다.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5" name="Rectangle 185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6" name="TextBox 186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임계값 18이 가장 좋지만 결과는 한 점에 기대지 않는다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임계값, VKOSPI 구간, 분석 기간을 바꿔 본 결과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566928" y="638251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000" b="0" i="0">
                <a:solidFill>
                  <a:srgbClr val="A6A6A6"/>
                </a:solidFill>
                <a:latin typeface="Arial"/>
                <a:ea typeface="맑은 고딕"/>
                <a:cs typeface="Arial"/>
              </a:rPr>
              <a:t>자료: FinanceDataReader(KOSPI200 구성종목 일봉), KRX VKOSPI, 2021.01~2026.06</a:t>
            </a:r>
          </a:p>
        </p:txBody>
      </p:sp>
      <p:sp>
        <p:nvSpPr>
          <p:cNvPr id="190" name="Rounded Rectangle 190"/>
          <p:cNvSpPr/>
          <p:nvPr/>
        </p:nvSpPr>
        <p:spPr>
          <a:xfrm>
            <a:off x="521207" y="2103120"/>
            <a:ext cx="2176272" cy="457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3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임계값별 Sharpe</a:t>
            </a:r>
          </a:p>
        </p:txBody>
      </p:sp>
      <p:sp>
        <p:nvSpPr>
          <p:cNvPr id="191" name="Rounded Rectangle 191"/>
          <p:cNvSpPr/>
          <p:nvPr/>
        </p:nvSpPr>
        <p:spPr>
          <a:xfrm>
            <a:off x="2788920" y="21031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4C9F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3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주의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521207" y="2651760"/>
            <a:ext cx="3502152" cy="438912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15, 18, 20에서 필터 없음보다 높다.</a:t>
            </a:r>
          </a:p>
        </p:txBody>
      </p:sp>
      <p:graphicFrame>
        <p:nvGraphicFramePr>
          <p:cNvPr id="193" name="Chart 192"/>
          <p:cNvGraphicFramePr>
            <a:graphicFrameLocks noGrp="1"/>
          </p:cNvGraphicFramePr>
          <p:nvPr/>
        </p:nvGraphicFramePr>
        <p:xfrm>
          <a:off x="429768" y="3063240"/>
          <a:ext cx="3593592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3" name="TextBox 193"/>
          <p:cNvSpPr txBox="1"/>
          <p:nvPr/>
        </p:nvSpPr>
        <p:spPr>
          <a:xfrm>
            <a:off x="521207" y="5285232"/>
            <a:ext cx="3502152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18이 최고점이라는 점은 걸린다. 25 이상은 진입이 11번 이하로 줄어 필터 없음보다 낮다.</a:t>
            </a:r>
          </a:p>
        </p:txBody>
      </p:sp>
      <p:sp>
        <p:nvSpPr>
          <p:cNvPr id="194" name="Rounded Rectangle 194"/>
          <p:cNvSpPr/>
          <p:nvPr/>
        </p:nvSpPr>
        <p:spPr>
          <a:xfrm>
            <a:off x="4297680" y="2103120"/>
            <a:ext cx="2176272" cy="457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3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VKOSPI 구간별 수익률</a:t>
            </a:r>
          </a:p>
        </p:txBody>
      </p:sp>
      <p:sp>
        <p:nvSpPr>
          <p:cNvPr id="195" name="Rounded Rectangle 195"/>
          <p:cNvSpPr/>
          <p:nvPr/>
        </p:nvSpPr>
        <p:spPr>
          <a:xfrm>
            <a:off x="6565393" y="21031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3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지지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4297680" y="2651760"/>
            <a:ext cx="3502152" cy="438912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전략의 다음 달 평균 수익률 (%)</a:t>
            </a:r>
          </a:p>
        </p:txBody>
      </p:sp>
      <p:graphicFrame>
        <p:nvGraphicFramePr>
          <p:cNvPr id="197" name="Chart 196"/>
          <p:cNvGraphicFramePr>
            <a:graphicFrameLocks noGrp="1"/>
          </p:cNvGraphicFramePr>
          <p:nvPr/>
        </p:nvGraphicFramePr>
        <p:xfrm>
          <a:off x="4206241" y="3063240"/>
          <a:ext cx="3593592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7" name="TextBox 197"/>
          <p:cNvSpPr txBox="1"/>
          <p:nvPr/>
        </p:nvSpPr>
        <p:spPr>
          <a:xfrm>
            <a:off x="4297680" y="5285232"/>
            <a:ext cx="3502152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18 이하 세 구간은 모두 마이너스, 위 네 구간은 모두 플러스다. 수준에 따라 단계적으로 바뀐다.</a:t>
            </a:r>
          </a:p>
        </p:txBody>
      </p:sp>
      <p:sp>
        <p:nvSpPr>
          <p:cNvPr id="198" name="Rounded Rectangle 198"/>
          <p:cNvSpPr/>
          <p:nvPr/>
        </p:nvSpPr>
        <p:spPr>
          <a:xfrm>
            <a:off x="8074153" y="2103120"/>
            <a:ext cx="2176272" cy="457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3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2021~2024년만</a:t>
            </a:r>
          </a:p>
        </p:txBody>
      </p:sp>
      <p:sp>
        <p:nvSpPr>
          <p:cNvPr id="199" name="Rounded Rectangle 199"/>
          <p:cNvSpPr/>
          <p:nvPr/>
        </p:nvSpPr>
        <p:spPr>
          <a:xfrm>
            <a:off x="10341866" y="21031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3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지지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8074153" y="2651760"/>
            <a:ext cx="3502152" cy="438912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595959"/>
                </a:solidFill>
                <a:latin typeface="Arial"/>
                <a:ea typeface="맑은 고딕"/>
                <a:cs typeface="Arial"/>
              </a:rPr>
              <a:t>필터가 실제로 달을 걸러낸 47개월의 Sharpe</a:t>
            </a:r>
          </a:p>
        </p:txBody>
      </p:sp>
      <p:graphicFrame>
        <p:nvGraphicFramePr>
          <p:cNvPr id="201" name="Chart 200"/>
          <p:cNvGraphicFramePr>
            <a:graphicFrameLocks noGrp="1"/>
          </p:cNvGraphicFramePr>
          <p:nvPr/>
        </p:nvGraphicFramePr>
        <p:xfrm>
          <a:off x="7982714" y="3063240"/>
          <a:ext cx="3593592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1" name="TextBox 201"/>
          <p:cNvSpPr txBox="1"/>
          <p:nvPr/>
        </p:nvSpPr>
        <p:spPr>
          <a:xfrm>
            <a:off x="8074153" y="5285232"/>
            <a:ext cx="3502152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/>
            <a:r>
              <a:rPr lang="ko-KR" sz="1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2025년부터는 VKOSPI가 18 아래로 내려간 적이 없어 필터가 항상 켜져 있다. 그전만 봐도 차이가 난다 (p 0.003).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Rectangle 202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TextBox 203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판정: 필터는 채택, 낙폭과대 팩터의 알파는 방향만 확인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질문별 결과</a:t>
            </a:r>
          </a:p>
        </p:txBody>
      </p:sp>
      <p:graphicFrame>
        <p:nvGraphicFramePr>
          <p:cNvPr id="206" name="Table 205"/>
          <p:cNvGraphicFramePr>
            <a:graphicFrameLocks noGrp="1"/>
          </p:cNvGraphicFramePr>
          <p:nvPr/>
        </p:nvGraphicFramePr>
        <p:xfrm>
          <a:off x="521207" y="2057400"/>
          <a:ext cx="11055094" cy="3182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16528"/>
                <a:gridCol w="1326611"/>
                <a:gridCol w="6411955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질문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판정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근거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필터가 성과를 높이는가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채택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Sharpe 0.93→1.71. 다음 달 수익률 +5.4% vs −2.0% (p&lt;0.001)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시장 타이밍과 구분되는가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부분 지지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4C9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초과수익 +1.7% vs −1.0% (p 0.006). 베타를 감안한 알파는 t 1.2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낙폭과대주가 주도주보다 강한가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기각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고변동성 달 Q1−Q5 +0.7% (t 0.6). 가장 많이 오른 Q5도 +4.0%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저변동성에서는 통하지 않는가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부분 지지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4C9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초과수익 −1.0% (t −1.6). 5분위 가운데 Q1이 −1.7%로 가장 낮다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임계값에 기대지 않는가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1B5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ko-KR"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부분 지지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4C9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sz="1200" b="0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15~20에서 필터 없음보다 높고 구간별 부호가 일관된다. 18이 최고점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6" name="Rounded Rectangle 206"/>
          <p:cNvSpPr/>
          <p:nvPr/>
        </p:nvSpPr>
        <p:spPr>
          <a:xfrm>
            <a:off x="521207" y="5468112"/>
            <a:ext cx="1737360" cy="658368"/>
          </a:xfrm>
          <a:prstGeom prst="roundRect">
            <a:avLst>
              <a:gd name="adj" fmla="val 12000"/>
            </a:avLst>
          </a:prstGeom>
          <a:solidFill>
            <a:srgbClr val="4C9F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읽는 법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2423160" y="5468112"/>
            <a:ext cx="9144000" cy="658368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표본이 63개월이고 유니버스에 생존편향이 있다. 수익률의 절대 크기보다 구간 사이의 차이와 유니버스 대비 초과수익을 본다.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8" name="Rectangle 208"/>
          <p:cNvSpPr/>
          <p:nvPr/>
        </p:nvSpPr>
        <p:spPr>
          <a:xfrm>
            <a:off x="521638" y="638238"/>
            <a:ext cx="11058717" cy="1227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9" name="TextBox 209"/>
          <p:cNvSpPr txBox="1"/>
          <p:nvPr/>
        </p:nvSpPr>
        <p:spPr>
          <a:xfrm>
            <a:off x="475488" y="210312"/>
            <a:ext cx="8961120" cy="338328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6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 Disparity Reversal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475488" y="932688"/>
            <a:ext cx="11064240" cy="457200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24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결론: 팩터 알파보다 주식 비중을 정하는 신호로 쓴다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475488" y="1517904"/>
            <a:ext cx="11064240" cy="310896"/>
          </a:xfrm>
          <a:prstGeom prst="rect">
            <a:avLst/>
          </a:prstGeom>
          <a:noFill/>
        </p:spPr>
        <p:txBody>
          <a:bodyPr wrap="square" anchor="t" tIns="18288" bIns="18288">
            <a:noAutofit/>
          </a:bodyPr>
          <a:lstStyle/>
          <a:p>
            <a:pPr algn="l"/>
            <a:r>
              <a:rPr lang="ko-KR" sz="14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쓸 수 있는 것, 한계, 다음 단계</a:t>
            </a:r>
          </a:p>
        </p:txBody>
      </p:sp>
      <p:sp>
        <p:nvSpPr>
          <p:cNvPr id="212" name="Rounded Rectangle 212"/>
          <p:cNvSpPr/>
          <p:nvPr/>
        </p:nvSpPr>
        <p:spPr>
          <a:xfrm>
            <a:off x="521207" y="2103120"/>
            <a:ext cx="3538728" cy="51206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쓸 수 있는 것</a:t>
            </a:r>
          </a:p>
        </p:txBody>
      </p:sp>
      <p:sp>
        <p:nvSpPr>
          <p:cNvPr id="213" name="Rounded Rectangle 213"/>
          <p:cNvSpPr/>
          <p:nvPr/>
        </p:nvSpPr>
        <p:spPr>
          <a:xfrm>
            <a:off x="521207" y="2724912"/>
            <a:ext cx="3538728" cy="25146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B5E5C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4" name="TextBox 214"/>
          <p:cNvSpPr txBox="1"/>
          <p:nvPr/>
        </p:nvSpPr>
        <p:spPr>
          <a:xfrm>
            <a:off x="704088" y="2862072"/>
            <a:ext cx="3172968" cy="2286000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VKOSPI가 18을 넘은 월말에는 주식 비중을 늘린다. 다음 달 유니버스 수익률이 +3.7%였다.</a:t>
            </a:r>
          </a:p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그때 이격도 하위 종목으로 기울이면 월 +1.7%가 더 붙었다.</a:t>
            </a:r>
          </a:p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VKOSPI가 낮을 때는 낙폭과대주를 사지 않는다.</a:t>
            </a:r>
          </a:p>
        </p:txBody>
      </p:sp>
      <p:sp>
        <p:nvSpPr>
          <p:cNvPr id="215" name="Rounded Rectangle 215"/>
          <p:cNvSpPr/>
          <p:nvPr/>
        </p:nvSpPr>
        <p:spPr>
          <a:xfrm>
            <a:off x="4279392" y="2103120"/>
            <a:ext cx="3538728" cy="51206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한계</a:t>
            </a:r>
          </a:p>
        </p:txBody>
      </p:sp>
      <p:sp>
        <p:nvSpPr>
          <p:cNvPr id="216" name="Rounded Rectangle 216"/>
          <p:cNvSpPr/>
          <p:nvPr/>
        </p:nvSpPr>
        <p:spPr>
          <a:xfrm>
            <a:off x="4279392" y="2724912"/>
            <a:ext cx="3538728" cy="25146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B5E5C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7" name="TextBox 217"/>
          <p:cNvSpPr txBox="1"/>
          <p:nvPr/>
        </p:nvSpPr>
        <p:spPr>
          <a:xfrm>
            <a:off x="4462273" y="2862072"/>
            <a:ext cx="3172968" cy="2286000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현재 KOSPI200 구성종목을 써서 생존편향이 있다. 절대 수익률은 과대평가됐다.</a:t>
            </a:r>
          </a:p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63개월, 진입 36번. 2025년 이후 상승장의 비중이 크다.</a:t>
            </a:r>
          </a:p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2025년부터 VKOSPI가 18 아래로 내려간 적이 없어 고정 임계값은 더 걸러내지 못한다.</a:t>
            </a:r>
          </a:p>
        </p:txBody>
      </p:sp>
      <p:sp>
        <p:nvSpPr>
          <p:cNvPr id="218" name="Rounded Rectangle 218"/>
          <p:cNvSpPr/>
          <p:nvPr/>
        </p:nvSpPr>
        <p:spPr>
          <a:xfrm>
            <a:off x="8037577" y="2103120"/>
            <a:ext cx="3538728" cy="512064"/>
          </a:xfrm>
          <a:prstGeom prst="roundRect">
            <a:avLst>
              <a:gd name="adj" fmla="val 12000"/>
            </a:avLst>
          </a:prstGeom>
          <a:solidFill>
            <a:srgbClr val="1B5E5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다음 단계</a:t>
            </a:r>
          </a:p>
        </p:txBody>
      </p:sp>
      <p:sp>
        <p:nvSpPr>
          <p:cNvPr id="219" name="Rounded Rectangle 219"/>
          <p:cNvSpPr/>
          <p:nvPr/>
        </p:nvSpPr>
        <p:spPr>
          <a:xfrm>
            <a:off x="8037577" y="2724912"/>
            <a:ext cx="3538728" cy="25146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B5E5C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0" name="TextBox 220"/>
          <p:cNvSpPr txBox="1"/>
          <p:nvPr/>
        </p:nvSpPr>
        <p:spPr>
          <a:xfrm>
            <a:off x="8220458" y="2862072"/>
            <a:ext cx="3172968" cy="2286000"/>
          </a:xfrm>
          <a:prstGeom prst="rect">
            <a:avLst/>
          </a:prstGeom>
          <a:noFill/>
        </p:spPr>
        <p:txBody>
          <a:bodyPr wrap="square" anchor="t" lIns="0" rIns="0" tIns="18288" bIns="18288">
            <a:noAutofit/>
          </a:bodyPr>
          <a:lstStyle/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시점별 구성종목으로 유니버스를 다시 만든다.</a:t>
            </a:r>
          </a:p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임계값을 최근 1~2년 분포의 백분위로 바꾼다.</a:t>
            </a:r>
          </a:p>
          <a:p>
            <a:pPr algn="l">
              <a:spcAft>
                <a:spcPts val="1000"/>
              </a:spcAft>
            </a:pPr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지수선물 매도로 베타를 헤지해 종목 선택 효과만 본다.</a:t>
            </a:r>
          </a:p>
        </p:txBody>
      </p:sp>
      <p:sp>
        <p:nvSpPr>
          <p:cNvPr id="221" name="Rounded Rectangle 221"/>
          <p:cNvSpPr/>
          <p:nvPr/>
        </p:nvSpPr>
        <p:spPr>
          <a:xfrm>
            <a:off x="521207" y="5468112"/>
            <a:ext cx="1600200" cy="731520"/>
          </a:xfrm>
          <a:prstGeom prst="roundRect">
            <a:avLst>
              <a:gd name="adj" fmla="val 12000"/>
            </a:avLst>
          </a:prstGeom>
          <a:solidFill>
            <a:srgbClr val="4C9F8B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/>
            <a:r>
              <a:rPr lang="ko-KR" sz="1400" b="1" i="0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한 줄 결론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2286000" y="5468112"/>
            <a:ext cx="9235440" cy="731520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l"/>
            <a:r>
              <a:rPr lang="ko-KR" sz="13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변동성이 튄 뒤에 주식을 사는 것이 수익의 대부분이고, 낙폭과대주 선택은 거기에 얹는 틸트다. 저변동성 구간의 낙폭과대주는 피한다.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D6E0-C857-41C9-633C-884E430A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The image shows a busy office environment with multiple computer screens, each displaying various data and interfaces, surrounded by busy employees working at their desks.&#10;&#10;AI 생성 콘텐츠는 정확하지 않을 수 있습니다.">
            <a:extLst>
              <a:ext uri="{FF2B5EF4-FFF2-40B4-BE49-F238E27FC236}">
                <a16:creationId xmlns:a16="http://schemas.microsoft.com/office/drawing/2014/main" id="{2BDC0065-0A80-9210-F6AB-750101F6E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2273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9005651-F17E-0840-C65B-DA35F5C32F94}"/>
              </a:ext>
            </a:extLst>
          </p:cNvPr>
          <p:cNvSpPr/>
          <p:nvPr/>
        </p:nvSpPr>
        <p:spPr>
          <a:xfrm>
            <a:off x="4050361" y="0"/>
            <a:ext cx="814163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1AA15-7F45-0F47-5FDC-003DAA05DE7B}"/>
              </a:ext>
            </a:extLst>
          </p:cNvPr>
          <p:cNvSpPr txBox="1"/>
          <p:nvPr/>
        </p:nvSpPr>
        <p:spPr>
          <a:xfrm>
            <a:off x="4510631" y="3915349"/>
            <a:ext cx="6701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1380A-85EB-3A4E-36D8-CD6952589D0E}"/>
              </a:ext>
            </a:extLst>
          </p:cNvPr>
          <p:cNvSpPr txBox="1"/>
          <p:nvPr/>
        </p:nvSpPr>
        <p:spPr>
          <a:xfrm>
            <a:off x="9268256" y="177972"/>
            <a:ext cx="2777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 Research Session</a:t>
            </a:r>
            <a:endParaRPr lang="ko-KR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84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882</Words>
  <Application>Microsoft Office PowerPoint</Application>
  <PresentationFormat>와이드스크린</PresentationFormat>
  <Paragraphs>255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61</cp:revision>
  <cp:lastPrinted>2026-09-14T13:55:19Z</cp:lastPrinted>
  <dcterms:created xsi:type="dcterms:W3CDTF">2026-08-21T17:25:29Z</dcterms:created>
  <dcterms:modified xsi:type="dcterms:W3CDTF">2026-09-28T18:00:06Z</dcterms:modified>
</cp:coreProperties>
</file>